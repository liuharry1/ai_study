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9" r:id="rId4"/>
    <p:sldId id="260" r:id="rId5"/>
    <p:sldId id="263" r:id="rId6"/>
    <p:sldId id="27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62" r:id="rId15"/>
    <p:sldId id="261" r:id="rId16"/>
    <p:sldId id="273" r:id="rId17"/>
    <p:sldId id="274" r:id="rId18"/>
    <p:sldId id="275" r:id="rId19"/>
    <p:sldId id="276" r:id="rId20"/>
    <p:sldId id="258" r:id="rId21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6281"/>
  </p:normalViewPr>
  <p:slideViewPr>
    <p:cSldViewPr snapToGrid="0">
      <p:cViewPr varScale="1">
        <p:scale>
          <a:sx n="116" d="100"/>
          <a:sy n="116" d="100"/>
        </p:scale>
        <p:origin x="20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BC16D4-54E2-D947-AA52-1D94A00D3404}" type="datetimeFigureOut">
              <a:rPr lang="en-CN" smtClean="0"/>
              <a:t>2025/5/18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C87942-14AB-EB49-99BF-84648E4E91C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10564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.csdn.net/so/search?q=RNN&amp;spm=1001.2101.3001.7020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.csdn.net/so/search?q=RNN&amp;spm=1001.2101.3001.7020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solidFill>
                  <a:srgbClr val="4F4F4F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残差连接</a:t>
            </a:r>
            <a:r>
              <a:rPr lang="en-US" altLang="zh-CN" b="1" i="0" dirty="0">
                <a:solidFill>
                  <a:srgbClr val="4F4F4F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 : </a:t>
            </a:r>
            <a:endParaRPr lang="zh-CN" altLang="en-US" b="1" i="0" dirty="0">
              <a:solidFill>
                <a:srgbClr val="4F4F4F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C87942-14AB-EB49-99BF-84648E4E91CA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28642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C87942-14AB-EB49-99BF-84648E4E91CA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55051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blog.csdn.net</a:t>
            </a:r>
            <a:r>
              <a:rPr lang="en-US" dirty="0"/>
              <a:t>/2401_85328934/article/details/145111851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C87942-14AB-EB49-99BF-84648E4E91CA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99274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4F4F4F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2.</a:t>
            </a:r>
            <a:r>
              <a:rPr lang="zh-CN" altLang="en-US" b="1" i="0" dirty="0">
                <a:solidFill>
                  <a:srgbClr val="4F4F4F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位置编码</a:t>
            </a:r>
          </a:p>
          <a:p>
            <a:pPr algn="l"/>
            <a:r>
              <a:rPr lang="en-US" b="0" i="0" dirty="0">
                <a:solidFill>
                  <a:srgbClr val="4D4D4D"/>
                </a:solidFill>
                <a:effectLst/>
                <a:latin typeface="-apple-system"/>
              </a:rPr>
              <a:t>Transformer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不像 </a:t>
            </a:r>
            <a:r>
              <a:rPr lang="en-US" b="0" i="0" u="none" strike="noStrike" dirty="0">
                <a:solidFill>
                  <a:srgbClr val="FC5531"/>
                </a:solidFill>
                <a:effectLst/>
                <a:latin typeface="-apple-system"/>
                <a:hlinkClick r:id="rId3"/>
              </a:rPr>
              <a:t>RNN</a:t>
            </a:r>
            <a:r>
              <a:rPr lang="en-US" b="0" i="0" dirty="0">
                <a:solidFill>
                  <a:srgbClr val="4D4D4D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或 </a:t>
            </a:r>
            <a:r>
              <a:rPr lang="en-US" b="0" i="0" dirty="0">
                <a:solidFill>
                  <a:srgbClr val="4D4D4D"/>
                </a:solidFill>
                <a:effectLst/>
                <a:latin typeface="-apple-system"/>
              </a:rPr>
              <a:t>LSTM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那样具有天然的顺序感知能力，因此需要额外的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位置编码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来注入序列位置信息。</a:t>
            </a: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位置编码根据序列中每个位置的相对和绝对信息，通过一个固定的函数将其嵌入到向量中，并加到输入嵌入上。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C87942-14AB-EB49-99BF-84648E4E91CA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54729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4F4F4F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2.</a:t>
            </a:r>
            <a:r>
              <a:rPr lang="zh-CN" altLang="en-US" b="1" i="0" dirty="0">
                <a:solidFill>
                  <a:srgbClr val="4F4F4F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位置编码</a:t>
            </a:r>
          </a:p>
          <a:p>
            <a:pPr algn="l"/>
            <a:r>
              <a:rPr lang="en-US" b="0" i="0" dirty="0">
                <a:solidFill>
                  <a:srgbClr val="4D4D4D"/>
                </a:solidFill>
                <a:effectLst/>
                <a:latin typeface="-apple-system"/>
              </a:rPr>
              <a:t>Transformer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不像 </a:t>
            </a:r>
            <a:r>
              <a:rPr lang="en-US" b="0" i="0" u="none" strike="noStrike" dirty="0">
                <a:solidFill>
                  <a:srgbClr val="FC5531"/>
                </a:solidFill>
                <a:effectLst/>
                <a:latin typeface="-apple-system"/>
                <a:hlinkClick r:id="rId3"/>
              </a:rPr>
              <a:t>RNN</a:t>
            </a:r>
            <a:r>
              <a:rPr lang="en-US" b="0" i="0" dirty="0">
                <a:solidFill>
                  <a:srgbClr val="4D4D4D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或 </a:t>
            </a:r>
            <a:r>
              <a:rPr lang="en-US" b="0" i="0" dirty="0">
                <a:solidFill>
                  <a:srgbClr val="4D4D4D"/>
                </a:solidFill>
                <a:effectLst/>
                <a:latin typeface="-apple-system"/>
              </a:rPr>
              <a:t>LSTM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那样具有天然的顺序感知能力，因此需要额外的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位置编码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来注入序列位置信息。</a:t>
            </a: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位置编码根据序列中每个位置的相对和绝对信息，通过一个固定的函数将其嵌入到向量中，并加到输入嵌入上。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C87942-14AB-EB49-99BF-84648E4E91CA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42197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自注意力机制是 </a:t>
            </a:r>
            <a:r>
              <a:rPr lang="en-US" b="0" i="0" dirty="0">
                <a:solidFill>
                  <a:srgbClr val="4D4D4D"/>
                </a:solidFill>
                <a:effectLst/>
                <a:latin typeface="-apple-system"/>
              </a:rPr>
              <a:t>Transformer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的核心组件，负责捕捉输入序列中各个词与其他词之间的依赖关系。</a:t>
            </a: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它的主要思想是通过计算每个词对序列中其他词的关注度，从而生成词的上下文敏感表示。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C87942-14AB-EB49-99BF-84648E4E91CA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89879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4F4F4F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4.</a:t>
            </a:r>
            <a:r>
              <a:rPr lang="zh-CN" altLang="en-US" b="1" i="0" dirty="0">
                <a:solidFill>
                  <a:srgbClr val="4F4F4F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多头自注意力机制</a:t>
            </a: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多头注意力机制通过并行地计算多组查询、键和值，来捕捉输入序列中不同子空间的依赖关系。</a:t>
            </a: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具体来说，它将自注意力机制的计算过程复制 </a:t>
            </a:r>
            <a:r>
              <a:rPr lang="en-US" b="0" i="0" dirty="0">
                <a:solidFill>
                  <a:srgbClr val="4D4D4D"/>
                </a:solidFill>
                <a:effectLst/>
                <a:latin typeface="-apple-system"/>
              </a:rPr>
              <a:t>h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次，每次使用不同的查询、键、值的线性变换。</a:t>
            </a: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最后，将这些头的输出拼接起来，并通过一个线性变换得到最终的输出。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C87942-14AB-EB49-99BF-84648E4E91CA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99926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每个编码器和解码器层中，除了自注意力机制，还有一个独立的前馈神经网络（</a:t>
            </a:r>
            <a:r>
              <a:rPr lang="en-US" b="0" i="0" dirty="0">
                <a:solidFill>
                  <a:srgbClr val="4D4D4D"/>
                </a:solidFill>
                <a:effectLst/>
                <a:latin typeface="-apple-system"/>
              </a:rPr>
              <a:t>FFN），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它用于对自注意力输出的结果进行进一步的非线性变换。</a:t>
            </a:r>
          </a:p>
          <a:p>
            <a:pPr algn="l"/>
            <a:r>
              <a:rPr lang="en-US" b="0" i="0" dirty="0">
                <a:solidFill>
                  <a:srgbClr val="4D4D4D"/>
                </a:solidFill>
                <a:effectLst/>
                <a:latin typeface="-apple-system"/>
              </a:rPr>
              <a:t>FFN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由两层线性变换和一个激活函数（通常是 </a:t>
            </a:r>
            <a:r>
              <a:rPr lang="en-US" b="0" i="0" dirty="0" err="1">
                <a:solidFill>
                  <a:srgbClr val="4D4D4D"/>
                </a:solidFill>
                <a:effectLst/>
                <a:latin typeface="-apple-system"/>
              </a:rPr>
              <a:t>ReLU</a:t>
            </a:r>
            <a:r>
              <a:rPr lang="en-US" b="0" i="0" dirty="0">
                <a:solidFill>
                  <a:srgbClr val="4D4D4D"/>
                </a:solidFill>
                <a:effectLst/>
                <a:latin typeface="-apple-system"/>
              </a:rPr>
              <a:t>）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组成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C87942-14AB-EB49-99BF-84648E4E91CA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160478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为了加速训练并解决梯度消失或爆炸的问题，</a:t>
            </a:r>
            <a:r>
              <a:rPr lang="en-US" b="0" i="0" dirty="0">
                <a:solidFill>
                  <a:srgbClr val="4D4D4D"/>
                </a:solidFill>
                <a:effectLst/>
                <a:latin typeface="-apple-system"/>
              </a:rPr>
              <a:t>Transformer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在每个子层（包括自注意力机制和前馈神经网络）后面引入了残差连接和层归一化。</a:t>
            </a:r>
            <a:endParaRPr lang="en-US" altLang="zh-CN" b="0" i="0" dirty="0">
              <a:solidFill>
                <a:srgbClr val="4D4D4D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这种残差结构有助于解决深层网络中的梯度消失问题，使得训练过程更加稳定。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C87942-14AB-EB49-99BF-84648E4E91CA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31803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dirty="0"/>
              <a:t>在解码器中，使用了一种特殊的注意力机制，称为掩码多头注意力（</a:t>
            </a:r>
            <a:r>
              <a:rPr lang="en-US" dirty="0"/>
              <a:t>Masked Multi-Head Attention）。</a:t>
            </a:r>
          </a:p>
          <a:p>
            <a:pPr algn="l"/>
            <a:endParaRPr lang="en-US" dirty="0"/>
          </a:p>
          <a:p>
            <a:pPr algn="l"/>
            <a:r>
              <a:rPr lang="zh-CN" altLang="en-US" dirty="0"/>
              <a:t>在解码器生成输出序列时，模型只能访问之前的生成结果，不能看到未来的词。</a:t>
            </a:r>
          </a:p>
          <a:p>
            <a:pPr algn="l"/>
            <a:endParaRPr lang="zh-CN" altLang="en-US" dirty="0"/>
          </a:p>
          <a:p>
            <a:pPr algn="l"/>
            <a:r>
              <a:rPr lang="zh-CN" altLang="en-US" dirty="0"/>
              <a:t>为了确保这一点，</a:t>
            </a:r>
            <a:r>
              <a:rPr lang="en-US" dirty="0"/>
              <a:t>Masked </a:t>
            </a:r>
            <a:r>
              <a:rPr lang="zh-CN" altLang="en-US" dirty="0"/>
              <a:t>多头自注意力机制通过在注意力矩阵中对未来位置进行掩码，使其权重为负无穷，从而保证模型只能“关注”到之前的位置。</a:t>
            </a:r>
          </a:p>
          <a:p>
            <a:pPr algn="l"/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C87942-14AB-EB49-99BF-84648E4E91CA}" type="slidenum">
              <a:rPr lang="en-CN" smtClean="0"/>
              <a:t>11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77268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 te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C87942-14AB-EB49-99BF-84648E4E91CA}" type="slidenum">
              <a:rPr lang="en-CN" smtClean="0"/>
              <a:t>13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67510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C87942-14AB-EB49-99BF-84648E4E91CA}" type="slidenum">
              <a:rPr lang="en-CN" smtClean="0"/>
              <a:t>14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6491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E2B4D-7627-C34E-D410-48EC4A38E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E6D6B3-0D6C-9B8B-A07D-EA5DD4A19F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091CD-E86B-D1B9-0C14-5656DD64E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0F003-1B9A-9B43-861B-8858A0DD4257}" type="datetimeFigureOut">
              <a:rPr lang="en-CN" smtClean="0"/>
              <a:t>2025/5/18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C61A5-5828-C5F1-91FD-F1C15638E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D2965-73E6-2270-2D58-573F5F23C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7B-7740-EE47-9DB0-8D88ADB9F36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46565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4FF43-FE70-EF0F-614F-C9C03B36C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817BC-ED80-C09E-87BF-4EAEA880F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92157-4E61-A392-2EDD-4B92CB795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0F003-1B9A-9B43-861B-8858A0DD4257}" type="datetimeFigureOut">
              <a:rPr lang="en-CN" smtClean="0"/>
              <a:t>2025/5/18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47FFD-EEA0-73A5-BC28-7B73A9288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2EB54-D8F5-37A1-FE59-C42FB588D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7B-7740-EE47-9DB0-8D88ADB9F36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1251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738CC-6891-9F00-0875-C23A408BF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7AF8B-F35A-D8D0-1EA0-AF3F1288B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27A8F-7491-39C6-6857-EEB781651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0F003-1B9A-9B43-861B-8858A0DD4257}" type="datetimeFigureOut">
              <a:rPr lang="en-CN" smtClean="0"/>
              <a:t>2025/5/18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B7D73-B287-38FB-27C0-10F5D7514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CC4E3-FD5F-912D-AF45-D11AB3783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7B-7740-EE47-9DB0-8D88ADB9F36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84165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B17DC-018B-10FA-03C1-2ECA66214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B71C8-D5FF-A511-DCDE-D571B2DE6E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F03C9F-92F8-DF06-E0D9-4D130F9C0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2E63D-FEA0-196B-8E5F-B26B74921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0F003-1B9A-9B43-861B-8858A0DD4257}" type="datetimeFigureOut">
              <a:rPr lang="en-CN" smtClean="0"/>
              <a:t>2025/5/18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270C3-FAAD-F61A-33B0-91463AE19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E529C-4FE4-68A3-56F4-F6B9BC36D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7B-7740-EE47-9DB0-8D88ADB9F36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19602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984A8-BF91-F68B-5C57-5ECFB5DDE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F3207-62FA-0B75-93AD-1B63E8C99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070F5-7C3F-8A7D-C9B1-8EE62AFE2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5C0ABF-9CA0-5D67-E734-3F0D60EB6A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6921D0-299D-FAE3-79E5-0738BA046F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EF0838-7E51-9F98-8131-F0EB8259A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0F003-1B9A-9B43-861B-8858A0DD4257}" type="datetimeFigureOut">
              <a:rPr lang="en-CN" smtClean="0"/>
              <a:t>2025/5/18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9EB1D7-DD51-CC47-BDE4-6259C6C29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A2CF3B-21A1-CC02-5AA7-BD267B0B5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7B-7740-EE47-9DB0-8D88ADB9F36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8894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31B46-4F8C-DF81-31AC-E9DCA173D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75904D-A10E-F4C3-A175-A3F82FA7F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0F003-1B9A-9B43-861B-8858A0DD4257}" type="datetimeFigureOut">
              <a:rPr lang="en-CN" smtClean="0"/>
              <a:t>2025/5/18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AFD9C0-AAAE-7FA0-5EB1-82805FB3C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ECA48B-C227-337A-8CDE-071CE2B9E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7B-7740-EE47-9DB0-8D88ADB9F36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07079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E58734-D21F-55D6-C42A-19400A14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0F003-1B9A-9B43-861B-8858A0DD4257}" type="datetimeFigureOut">
              <a:rPr lang="en-CN" smtClean="0"/>
              <a:t>2025/5/18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392F37-F9D9-7C76-5A57-90B776389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449EC-91D7-5901-FC5D-8FD7E0DB3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7B-7740-EE47-9DB0-8D88ADB9F36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88106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B929C-C8A9-ED74-8194-B280388DD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8674D-D494-1CF2-8550-939B1C8DB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02264A-0849-806E-A6B0-7E75292D92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D91DD7-EA67-15E1-BAA3-EF07BFF20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0F003-1B9A-9B43-861B-8858A0DD4257}" type="datetimeFigureOut">
              <a:rPr lang="en-CN" smtClean="0"/>
              <a:t>2025/5/18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9B8CD-6F7C-D9AC-83F4-74AB0809C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1918B-0738-E3F4-6DB7-CB72FB29F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7B-7740-EE47-9DB0-8D88ADB9F36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13242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2C2C3-DE0B-7F0D-A569-E263F517D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61F331-C02D-ADC8-F39A-CC725979FD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AD1D8F-374A-75CF-C66F-2F069F403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65F54-833C-4210-4F02-3E5A500EA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0F003-1B9A-9B43-861B-8858A0DD4257}" type="datetimeFigureOut">
              <a:rPr lang="en-CN" smtClean="0"/>
              <a:t>2025/5/18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9ADB0-E114-6F66-719A-149EBF73E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D39B40-4C5F-EC90-D6C2-C308B9BCD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7B-7740-EE47-9DB0-8D88ADB9F36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48848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E8C33-D995-0A56-0DB0-81F01A816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3CA788-E421-78D4-76DF-0B6C0531A1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F1379-5EB0-23D8-7C13-6C065FFB1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0F003-1B9A-9B43-861B-8858A0DD4257}" type="datetimeFigureOut">
              <a:rPr lang="en-CN" smtClean="0"/>
              <a:t>2025/5/18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DE58D-1B9B-3F64-D052-6EF6B7999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E6B50-AC33-0B71-AF80-E1B222E1C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7B-7740-EE47-9DB0-8D88ADB9F36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32276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C01F29-3715-5553-81D2-B0910420AE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B5B7AC-E507-5C37-D222-FAF8A283F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21E35-4021-A036-7AFD-EB1549779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0F003-1B9A-9B43-861B-8858A0DD4257}" type="datetimeFigureOut">
              <a:rPr lang="en-CN" smtClean="0"/>
              <a:t>2025/5/18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478AF-A015-9279-6051-52124529E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94811-EDF2-84CE-6DE3-17AE99CEA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7B-7740-EE47-9DB0-8D88ADB9F36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46203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67CEB9-4F94-450E-D3EA-3EA8B5A7E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2D3B7E-0EDB-3979-2BE6-7468F893E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5C6E6-4DBA-064A-D736-68C5D4706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0F003-1B9A-9B43-861B-8858A0DD4257}" type="datetimeFigureOut">
              <a:rPr lang="en-CN" smtClean="0"/>
              <a:t>2025/5/18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B963F-6306-FBEA-A5A3-C5529E389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F1403-14DF-FCE6-32E5-C5C84F54E3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AE27B-7740-EE47-9DB0-8D88ADB9F36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37831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7943F-73C7-812F-D70B-FFC9B1293A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/>
              <a:t>Transformer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3F76CF-027A-B967-DA7B-D02111B801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866722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A26D-244F-EE54-2977-D4656DFAD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38870" cy="890798"/>
          </a:xfrm>
        </p:spPr>
        <p:txBody>
          <a:bodyPr/>
          <a:lstStyle/>
          <a:p>
            <a:r>
              <a:rPr lang="en-CN" dirty="0"/>
              <a:t>Transformer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1C4365-AFCB-71E1-275A-6CD69419BA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678" y="365125"/>
            <a:ext cx="4994693" cy="612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AFA9BB1-EB77-F33D-0DA7-AC2998CB1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02" y="1507743"/>
            <a:ext cx="3598385" cy="4797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6226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A26D-244F-EE54-2977-D4656DFAD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38870" cy="890798"/>
          </a:xfrm>
        </p:spPr>
        <p:txBody>
          <a:bodyPr/>
          <a:lstStyle/>
          <a:p>
            <a:r>
              <a:rPr lang="en-CN" dirty="0"/>
              <a:t>Transformer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1C4365-AFCB-71E1-275A-6CD69419BA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678" y="365125"/>
            <a:ext cx="4994693" cy="612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D84B17B-4012-71D0-901E-AD58A879C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519" y="1536983"/>
            <a:ext cx="3478570" cy="4472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7460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A26D-244F-EE54-2977-D4656DFAD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26" y="365125"/>
            <a:ext cx="7866414" cy="890798"/>
          </a:xfrm>
        </p:spPr>
        <p:txBody>
          <a:bodyPr>
            <a:normAutofit/>
          </a:bodyPr>
          <a:lstStyle/>
          <a:p>
            <a:r>
              <a:rPr lang="en-CN" sz="3200" dirty="0"/>
              <a:t>Transformer – Input Embedding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1C4365-AFCB-71E1-275A-6CD69419BA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781" y="258247"/>
            <a:ext cx="4994693" cy="612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在这里插入图片描述">
            <a:extLst>
              <a:ext uri="{FF2B5EF4-FFF2-40B4-BE49-F238E27FC236}">
                <a16:creationId xmlns:a16="http://schemas.microsoft.com/office/drawing/2014/main" id="{C680AF7E-28D9-C54C-E26C-E540D5F50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58" y="3497283"/>
            <a:ext cx="7098391" cy="2581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在这里插入图片描述">
            <a:extLst>
              <a:ext uri="{FF2B5EF4-FFF2-40B4-BE49-F238E27FC236}">
                <a16:creationId xmlns:a16="http://schemas.microsoft.com/office/drawing/2014/main" id="{623AB890-5F81-B987-81D3-132F27EB6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24" y="1270888"/>
            <a:ext cx="6662057" cy="2226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2658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A26D-244F-EE54-2977-D4656DFAD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26" y="365125"/>
            <a:ext cx="7866414" cy="890798"/>
          </a:xfrm>
        </p:spPr>
        <p:txBody>
          <a:bodyPr>
            <a:normAutofit/>
          </a:bodyPr>
          <a:lstStyle/>
          <a:p>
            <a:r>
              <a:rPr lang="en-CN" sz="3200" dirty="0"/>
              <a:t>Transformer – </a:t>
            </a:r>
            <a:r>
              <a:rPr lang="zh-CN" altLang="en-US" sz="3200" dirty="0"/>
              <a:t> </a:t>
            </a:r>
            <a:r>
              <a:rPr lang="en-US" altLang="zh-CN" sz="3200" dirty="0"/>
              <a:t>why</a:t>
            </a:r>
            <a:r>
              <a:rPr lang="zh-CN" altLang="en-US" sz="3200" dirty="0"/>
              <a:t> </a:t>
            </a:r>
            <a:r>
              <a:rPr lang="en-CN" sz="3200" dirty="0"/>
              <a:t>Positional Encoding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1C4365-AFCB-71E1-275A-6CD69419BA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781" y="258247"/>
            <a:ext cx="4994693" cy="612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93AE8C-E785-301B-3868-D1C2E46444BE}"/>
              </a:ext>
            </a:extLst>
          </p:cNvPr>
          <p:cNvSpPr txBox="1"/>
          <p:nvPr/>
        </p:nvSpPr>
        <p:spPr>
          <a:xfrm>
            <a:off x="518570" y="1397675"/>
            <a:ext cx="684475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Transformer </a:t>
            </a:r>
            <a:r>
              <a:rPr lang="zh-CN" altLang="en-US" dirty="0"/>
              <a:t>的自注意力机制对所有输入词是</a:t>
            </a:r>
            <a:r>
              <a:rPr lang="zh-CN" altLang="en-US" b="1" dirty="0"/>
              <a:t>同时处理</a:t>
            </a:r>
            <a:r>
              <a:rPr lang="zh-CN" altLang="en-US" dirty="0"/>
              <a:t>的，没有“前后”概念。这对于像自然语言这样的任务是个问题：</a:t>
            </a:r>
            <a:endParaRPr lang="en-US" altLang="zh-CN" dirty="0"/>
          </a:p>
          <a:p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句子“</a:t>
            </a:r>
            <a:r>
              <a:rPr lang="zh-CN" altLang="en-US" b="1" dirty="0"/>
              <a:t>我 爱 你</a:t>
            </a:r>
            <a:r>
              <a:rPr lang="zh-CN" altLang="en-US" dirty="0"/>
              <a:t>”和“</a:t>
            </a:r>
            <a:r>
              <a:rPr lang="zh-CN" altLang="en-US" b="1" dirty="0"/>
              <a:t>你 爱 我</a:t>
            </a:r>
            <a:r>
              <a:rPr lang="zh-CN" altLang="en-US" dirty="0"/>
              <a:t>”虽然词语相同，但顺序不同，意义完全相反。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句子“小猫 吃 鱼”和“鱼 吃 小猫”虽然词语相同，但顺序不同，意义完全相反。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如果模型不能感知顺序，它就无法分辨这两个句子的不同。</a:t>
            </a:r>
          </a:p>
          <a:p>
            <a:endParaRPr lang="en-US" altLang="zh-CN" dirty="0"/>
          </a:p>
          <a:p>
            <a:r>
              <a:rPr lang="zh-CN" altLang="en-US" dirty="0"/>
              <a:t>所以，我们要向模型</a:t>
            </a:r>
            <a:r>
              <a:rPr lang="zh-CN" altLang="en-US" b="1" dirty="0"/>
              <a:t>显式地提供顺序信息</a:t>
            </a:r>
            <a:r>
              <a:rPr lang="zh-CN" altLang="en-US" dirty="0"/>
              <a:t>，这就是 </a:t>
            </a:r>
            <a:r>
              <a:rPr lang="en-US" dirty="0"/>
              <a:t>Positional Encoding </a:t>
            </a:r>
            <a:r>
              <a:rPr lang="zh-CN" altLang="en-US" dirty="0"/>
              <a:t>的作用。</a:t>
            </a:r>
          </a:p>
        </p:txBody>
      </p:sp>
    </p:spTree>
    <p:extLst>
      <p:ext uri="{BB962C8B-B14F-4D97-AF65-F5344CB8AC3E}">
        <p14:creationId xmlns:p14="http://schemas.microsoft.com/office/powerpoint/2010/main" val="3517380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A26D-244F-EE54-2977-D4656DFAD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26" y="365125"/>
            <a:ext cx="7866414" cy="890798"/>
          </a:xfrm>
        </p:spPr>
        <p:txBody>
          <a:bodyPr>
            <a:normAutofit/>
          </a:bodyPr>
          <a:lstStyle/>
          <a:p>
            <a:r>
              <a:rPr lang="en-CN" sz="3200" dirty="0"/>
              <a:t>Transformer –</a:t>
            </a:r>
            <a:r>
              <a:rPr lang="zh-CN" altLang="en-US" sz="3200" dirty="0"/>
              <a:t> </a:t>
            </a:r>
            <a:r>
              <a:rPr lang="en-CN" sz="3200" dirty="0"/>
              <a:t>Positional Encoding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A492700-089F-A73A-5F0D-54BC54C401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5208" y="1373987"/>
            <a:ext cx="5970792" cy="4351338"/>
          </a:xfrm>
        </p:spPr>
      </p:pic>
      <p:pic>
        <p:nvPicPr>
          <p:cNvPr id="7" name="Picture 4" descr="在这里插入图片描述">
            <a:extLst>
              <a:ext uri="{FF2B5EF4-FFF2-40B4-BE49-F238E27FC236}">
                <a16:creationId xmlns:a16="http://schemas.microsoft.com/office/drawing/2014/main" id="{72F3132B-6A9B-DC01-97CC-A8A7BCF20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1264" y="1373987"/>
            <a:ext cx="5556084" cy="174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在这里插入图片描述">
            <a:extLst>
              <a:ext uri="{FF2B5EF4-FFF2-40B4-BE49-F238E27FC236}">
                <a16:creationId xmlns:a16="http://schemas.microsoft.com/office/drawing/2014/main" id="{A9A69C3F-964F-B125-4D94-292FE75E3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900" y="3115230"/>
            <a:ext cx="4894883" cy="3685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8157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A26D-244F-EE54-2977-D4656DFAD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26" y="258247"/>
            <a:ext cx="7866414" cy="890798"/>
          </a:xfrm>
        </p:spPr>
        <p:txBody>
          <a:bodyPr>
            <a:normAutofit/>
          </a:bodyPr>
          <a:lstStyle/>
          <a:p>
            <a:r>
              <a:rPr lang="en-CN" sz="3200" dirty="0"/>
              <a:t>Transformer – Self Attention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1C4365-AFCB-71E1-275A-6CD69419BA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781" y="258247"/>
            <a:ext cx="4994693" cy="612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在这里插入图片描述">
            <a:extLst>
              <a:ext uri="{FF2B5EF4-FFF2-40B4-BE49-F238E27FC236}">
                <a16:creationId xmlns:a16="http://schemas.microsoft.com/office/drawing/2014/main" id="{55E73616-4E31-5FB3-7AFD-EFE1089A8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218" y="1427274"/>
            <a:ext cx="4994692" cy="5257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4862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A26D-244F-EE54-2977-D4656DFAD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26" y="258247"/>
            <a:ext cx="7866414" cy="890798"/>
          </a:xfrm>
        </p:spPr>
        <p:txBody>
          <a:bodyPr>
            <a:normAutofit/>
          </a:bodyPr>
          <a:lstStyle/>
          <a:p>
            <a:r>
              <a:rPr lang="en-CN" sz="3200" dirty="0"/>
              <a:t>Transformer – Mult-Head Attention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1C4365-AFCB-71E1-275A-6CD69419BA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781" y="258247"/>
            <a:ext cx="4994693" cy="612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在这里插入图片描述">
            <a:extLst>
              <a:ext uri="{FF2B5EF4-FFF2-40B4-BE49-F238E27FC236}">
                <a16:creationId xmlns:a16="http://schemas.microsoft.com/office/drawing/2014/main" id="{40DF2585-E6F2-3713-DEC3-DC25C03A1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5" y="3518312"/>
            <a:ext cx="6909255" cy="3048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在这里插入图片描述">
            <a:extLst>
              <a:ext uri="{FF2B5EF4-FFF2-40B4-BE49-F238E27FC236}">
                <a16:creationId xmlns:a16="http://schemas.microsoft.com/office/drawing/2014/main" id="{93DC6AC3-DA22-40BC-FBBA-F36DCE5A3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5" y="1450204"/>
            <a:ext cx="6792791" cy="1277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0081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A26D-244F-EE54-2977-D4656DFAD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26" y="258247"/>
            <a:ext cx="7866414" cy="890798"/>
          </a:xfrm>
        </p:spPr>
        <p:txBody>
          <a:bodyPr>
            <a:normAutofit/>
          </a:bodyPr>
          <a:lstStyle/>
          <a:p>
            <a:r>
              <a:rPr lang="en-CN" sz="3200" dirty="0"/>
              <a:t>Transformer – Feed Forward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1C4365-AFCB-71E1-275A-6CD69419BA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781" y="258247"/>
            <a:ext cx="4994693" cy="612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 descr="在这里插入图片描述">
            <a:extLst>
              <a:ext uri="{FF2B5EF4-FFF2-40B4-BE49-F238E27FC236}">
                <a16:creationId xmlns:a16="http://schemas.microsoft.com/office/drawing/2014/main" id="{F6512BC4-E491-4AF8-0741-AB5AAEBBF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40" y="1149045"/>
            <a:ext cx="6027857" cy="157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在这里插入图片描述">
            <a:extLst>
              <a:ext uri="{FF2B5EF4-FFF2-40B4-BE49-F238E27FC236}">
                <a16:creationId xmlns:a16="http://schemas.microsoft.com/office/drawing/2014/main" id="{A820D303-10FC-B581-3B63-D9C7F3B4F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40" y="2719490"/>
            <a:ext cx="5110810" cy="3880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921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A26D-244F-EE54-2977-D4656DFAD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26" y="258247"/>
            <a:ext cx="7866414" cy="890798"/>
          </a:xfrm>
        </p:spPr>
        <p:txBody>
          <a:bodyPr>
            <a:normAutofit/>
          </a:bodyPr>
          <a:lstStyle/>
          <a:p>
            <a:r>
              <a:rPr lang="en-CN" sz="3200" dirty="0"/>
              <a:t>Transformer – Add &amp; Norm Layer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1C4365-AFCB-71E1-275A-6CD69419BA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781" y="258247"/>
            <a:ext cx="4994693" cy="612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在这里插入图片描述">
            <a:extLst>
              <a:ext uri="{FF2B5EF4-FFF2-40B4-BE49-F238E27FC236}">
                <a16:creationId xmlns:a16="http://schemas.microsoft.com/office/drawing/2014/main" id="{CC7CBB13-5511-F934-E942-742B7DDA4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40" y="1149045"/>
            <a:ext cx="7631170" cy="890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在这里插入图片描述">
            <a:extLst>
              <a:ext uri="{FF2B5EF4-FFF2-40B4-BE49-F238E27FC236}">
                <a16:creationId xmlns:a16="http://schemas.microsoft.com/office/drawing/2014/main" id="{29C1A302-1FD6-F43B-C124-04E1A3D0E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22" y="2489266"/>
            <a:ext cx="6148413" cy="3564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1277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A26D-244F-EE54-2977-D4656DFAD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26" y="258247"/>
            <a:ext cx="7866414" cy="890798"/>
          </a:xfrm>
        </p:spPr>
        <p:txBody>
          <a:bodyPr>
            <a:normAutofit/>
          </a:bodyPr>
          <a:lstStyle/>
          <a:p>
            <a:r>
              <a:rPr lang="en-CN" sz="3200" dirty="0"/>
              <a:t>Transformer – Masked attention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1C4365-AFCB-71E1-275A-6CD69419BA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781" y="258247"/>
            <a:ext cx="4994693" cy="612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2" name="Picture 2" descr="在这里插入图片描述">
            <a:extLst>
              <a:ext uri="{FF2B5EF4-FFF2-40B4-BE49-F238E27FC236}">
                <a16:creationId xmlns:a16="http://schemas.microsoft.com/office/drawing/2014/main" id="{5DCCD959-BCF2-E310-296E-58FC9F77D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19" y="1734539"/>
            <a:ext cx="7075196" cy="351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1509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96F47-1ABE-F6FD-42B3-2FE7DDC8B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980054" cy="858368"/>
          </a:xfrm>
        </p:spPr>
        <p:txBody>
          <a:bodyPr>
            <a:normAutofit/>
          </a:bodyPr>
          <a:lstStyle/>
          <a:p>
            <a:r>
              <a:rPr lang="en-CN" dirty="0"/>
              <a:t>Multiple Encoder and Decoder</a:t>
            </a:r>
          </a:p>
        </p:txBody>
      </p:sp>
      <p:pic>
        <p:nvPicPr>
          <p:cNvPr id="16388" name="Picture 4" descr="在这里插入图片描述">
            <a:extLst>
              <a:ext uri="{FF2B5EF4-FFF2-40B4-BE49-F238E27FC236}">
                <a16:creationId xmlns:a16="http://schemas.microsoft.com/office/drawing/2014/main" id="{4FA113D4-1433-EA63-7922-F0213F064A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309" y="1723824"/>
            <a:ext cx="8206617" cy="434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6456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B2873-FF94-0D3D-6814-D2154066B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80054" cy="961399"/>
          </a:xfrm>
        </p:spPr>
        <p:txBody>
          <a:bodyPr/>
          <a:lstStyle/>
          <a:p>
            <a:r>
              <a:rPr lang="en-CN" dirty="0"/>
              <a:t>Why Masked attention in LLM training</a:t>
            </a: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832320A4-2CFC-BB82-21B2-05B25D2CB27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746" y="1326524"/>
            <a:ext cx="7499887" cy="500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1221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DD5FB-2DDF-435A-26C0-7B63E487F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70961" cy="897005"/>
          </a:xfrm>
        </p:spPr>
        <p:txBody>
          <a:bodyPr>
            <a:normAutofit/>
          </a:bodyPr>
          <a:lstStyle/>
          <a:p>
            <a:r>
              <a:rPr lang="en-US" sz="3600" dirty="0"/>
              <a:t>L</a:t>
            </a:r>
            <a:r>
              <a:rPr lang="en-CN" sz="3600" dirty="0"/>
              <a:t>lm inference- two stages (prefill and decode)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62359105-AA25-2A4D-D686-7153F3BA76A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2009" y="1262130"/>
            <a:ext cx="7649991" cy="2925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EF26CD-2E58-D73D-F6E0-53D87512FCCE}"/>
              </a:ext>
            </a:extLst>
          </p:cNvPr>
          <p:cNvSpPr txBox="1"/>
          <p:nvPr/>
        </p:nvSpPr>
        <p:spPr>
          <a:xfrm>
            <a:off x="425005" y="3376402"/>
            <a:ext cx="3992450" cy="3481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一句话解释：</a:t>
            </a:r>
            <a:r>
              <a:rPr lang="en-US" sz="1200" dirty="0"/>
              <a:t>Prefill </a:t>
            </a:r>
            <a:r>
              <a:rPr lang="zh-CN" altLang="en-US" sz="1200" dirty="0"/>
              <a:t>和 </a:t>
            </a:r>
            <a:r>
              <a:rPr lang="en-US" sz="1200" dirty="0"/>
              <a:t>Decode </a:t>
            </a:r>
            <a:r>
              <a:rPr lang="zh-CN" altLang="en-US" sz="1200" dirty="0"/>
              <a:t>的分工</a:t>
            </a:r>
          </a:p>
          <a:p>
            <a:r>
              <a:rPr lang="zh-CN" altLang="en-US" sz="1200" dirty="0"/>
              <a:t>大语言模型生成文本的过程本质上是给定上下文，逐词预测下一个词。</a:t>
            </a:r>
          </a:p>
          <a:p>
            <a:r>
              <a:rPr lang="zh-CN" altLang="en-US" sz="1200" dirty="0"/>
              <a:t>但在实现上，这个过程被明确地分成两个阶段：</a:t>
            </a:r>
          </a:p>
          <a:p>
            <a:endParaRPr lang="zh-CN" altLang="en-US" sz="1200" dirty="0"/>
          </a:p>
          <a:p>
            <a:r>
              <a:rPr lang="zh-CN" altLang="en-US" sz="1200" dirty="0"/>
              <a:t>阶段	目的</a:t>
            </a:r>
          </a:p>
          <a:p>
            <a:r>
              <a:rPr lang="en-US" sz="1200" dirty="0"/>
              <a:t>Prefill	</a:t>
            </a:r>
            <a:r>
              <a:rPr lang="zh-CN" altLang="en-US" sz="1200" dirty="0"/>
              <a:t>模型读取并“理解”你输入的所有上下文</a:t>
            </a:r>
          </a:p>
          <a:p>
            <a:r>
              <a:rPr lang="en-US" sz="1200" dirty="0"/>
              <a:t>Decode	</a:t>
            </a:r>
            <a:r>
              <a:rPr lang="zh-CN" altLang="en-US" sz="1200" dirty="0"/>
              <a:t>模型基于已有信息一步步生成回复</a:t>
            </a:r>
          </a:p>
          <a:p>
            <a:r>
              <a:rPr lang="zh-CN" altLang="en-US" sz="1200" dirty="0"/>
              <a:t>为什么不能用一个阶段做完？</a:t>
            </a:r>
          </a:p>
          <a:p>
            <a:r>
              <a:rPr lang="zh-CN" altLang="en-US" sz="1200" dirty="0"/>
              <a:t>因为输入和输出的计算特性完全不同：</a:t>
            </a:r>
          </a:p>
          <a:p>
            <a:endParaRPr lang="zh-CN" altLang="en-US" sz="1200" dirty="0"/>
          </a:p>
          <a:p>
            <a:r>
              <a:rPr lang="zh-CN" altLang="en-US" sz="1200" dirty="0"/>
              <a:t>输入 </a:t>
            </a:r>
            <a:r>
              <a:rPr lang="en-US" sz="1200" dirty="0"/>
              <a:t>prompt </a:t>
            </a:r>
            <a:r>
              <a:rPr lang="zh-CN" altLang="en-US" sz="1200" dirty="0"/>
              <a:t>是完整的、一次性提供的，适合并行计算。</a:t>
            </a:r>
          </a:p>
          <a:p>
            <a:endParaRPr lang="zh-CN" altLang="en-US" sz="1200" dirty="0"/>
          </a:p>
          <a:p>
            <a:r>
              <a:rPr lang="zh-CN" altLang="en-US" sz="1200" dirty="0"/>
              <a:t>输出 </a:t>
            </a:r>
            <a:r>
              <a:rPr lang="en-US" sz="1200" dirty="0"/>
              <a:t>token </a:t>
            </a:r>
            <a:r>
              <a:rPr lang="zh-CN" altLang="en-US" sz="1200" dirty="0"/>
              <a:t>是未知的，只能一个一个推理，必须串行。</a:t>
            </a:r>
          </a:p>
          <a:p>
            <a:endParaRPr lang="zh-CN" altLang="en-US" sz="1200" dirty="0"/>
          </a:p>
          <a:p>
            <a:r>
              <a:rPr lang="zh-CN" altLang="en-US" sz="1200" dirty="0"/>
              <a:t>这种“数据形态差异”导致我们不得不把它们拆成两个阶段，并用不同方式处理。</a:t>
            </a:r>
          </a:p>
          <a:p>
            <a:endParaRPr lang="en-CN" sz="1200" dirty="0"/>
          </a:p>
        </p:txBody>
      </p:sp>
    </p:spTree>
    <p:extLst>
      <p:ext uri="{BB962C8B-B14F-4D97-AF65-F5344CB8AC3E}">
        <p14:creationId xmlns:p14="http://schemas.microsoft.com/office/powerpoint/2010/main" val="319192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502F4-1692-0437-1E51-DC206A5D5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44" y="86196"/>
            <a:ext cx="9243349" cy="769194"/>
          </a:xfrm>
        </p:spPr>
        <p:txBody>
          <a:bodyPr/>
          <a:lstStyle/>
          <a:p>
            <a:r>
              <a:rPr lang="en-US" altLang="zh-CN" dirty="0"/>
              <a:t>Why KV</a:t>
            </a:r>
            <a:r>
              <a:rPr lang="zh-CN" altLang="en-US" dirty="0"/>
              <a:t> </a:t>
            </a:r>
            <a:r>
              <a:rPr lang="en-US" altLang="zh-CN" dirty="0"/>
              <a:t>cache</a:t>
            </a:r>
            <a:endParaRPr lang="en-C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DA825A2-6BF6-292C-5032-E22135AED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71" y="1021626"/>
            <a:ext cx="7772400" cy="517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572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502F4-1692-0437-1E51-DC206A5D5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44" y="86196"/>
            <a:ext cx="9243349" cy="769194"/>
          </a:xfrm>
        </p:spPr>
        <p:txBody>
          <a:bodyPr/>
          <a:lstStyle/>
          <a:p>
            <a:r>
              <a:rPr lang="en-US" altLang="zh-CN" dirty="0" err="1"/>
              <a:t>Kv</a:t>
            </a:r>
            <a:r>
              <a:rPr lang="zh-CN" altLang="en-US" dirty="0"/>
              <a:t> </a:t>
            </a:r>
            <a:r>
              <a:rPr lang="en-US" altLang="zh-CN" dirty="0"/>
              <a:t>cache</a:t>
            </a:r>
            <a:endParaRPr lang="en-CN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B994E42-9FA8-02D4-1B25-FF3EE36038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9200" y="983848"/>
            <a:ext cx="5274370" cy="5517206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911081-E492-C45F-7AD6-2703B9C0C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93536"/>
            <a:ext cx="5794271" cy="343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80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502F4-1692-0437-1E51-DC206A5D5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44" y="86196"/>
            <a:ext cx="9243349" cy="769194"/>
          </a:xfrm>
        </p:spPr>
        <p:txBody>
          <a:bodyPr/>
          <a:lstStyle/>
          <a:p>
            <a:r>
              <a:rPr lang="en-US" altLang="zh-CN" dirty="0" err="1"/>
              <a:t>Kv</a:t>
            </a:r>
            <a:r>
              <a:rPr lang="zh-CN" altLang="en-US" dirty="0"/>
              <a:t> </a:t>
            </a:r>
            <a:r>
              <a:rPr lang="en-US" altLang="zh-CN" dirty="0"/>
              <a:t>cache</a:t>
            </a:r>
            <a:endParaRPr lang="en-C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81BE63-0D0F-D96F-36A8-0BA9281A8F9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722" y="855390"/>
            <a:ext cx="9848792" cy="5535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1005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33A12-DB40-C6BA-7C6A-DA2CEB45E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4865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每个 </a:t>
            </a:r>
            <a:r>
              <a:rPr lang="en-US" sz="3200" dirty="0"/>
              <a:t>token </a:t>
            </a:r>
            <a:r>
              <a:rPr lang="zh-CN" altLang="en-US" sz="3200" dirty="0"/>
              <a:t>的 </a:t>
            </a:r>
            <a:r>
              <a:rPr lang="en-US" sz="3200" dirty="0"/>
              <a:t>KV Cache </a:t>
            </a:r>
            <a:r>
              <a:rPr lang="zh-CN" altLang="en-US" sz="3200" dirty="0"/>
              <a:t>占用多大？</a:t>
            </a:r>
            <a:endParaRPr lang="en-CN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FBBFFA-B4E7-17C9-3EFE-4C6BD04E9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40" y="1172847"/>
            <a:ext cx="6664184" cy="45123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DAAB83-A701-1D81-FFB0-546BB2460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039" y="1299990"/>
            <a:ext cx="5093221" cy="379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320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33A12-DB40-C6BA-7C6A-DA2CEB45E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4865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每个 </a:t>
            </a:r>
            <a:r>
              <a:rPr lang="en-US" sz="3200" dirty="0"/>
              <a:t>token </a:t>
            </a:r>
            <a:r>
              <a:rPr lang="zh-CN" altLang="en-US" sz="3200" dirty="0"/>
              <a:t>的 </a:t>
            </a:r>
            <a:r>
              <a:rPr lang="en-US" sz="3200" dirty="0"/>
              <a:t>KV Cache </a:t>
            </a:r>
            <a:r>
              <a:rPr lang="zh-CN" altLang="en-US" sz="3200" dirty="0"/>
              <a:t>占用多大？</a:t>
            </a:r>
            <a:endParaRPr lang="en-CN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90958C-D6DD-1D61-4851-213763034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661" y="1299990"/>
            <a:ext cx="5644588" cy="2235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9257B8-8686-BE5C-E978-26C976191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466" y="3826649"/>
            <a:ext cx="5070977" cy="27984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6490A4-892E-2B89-12A8-E9C8C64E3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98" y="1299990"/>
            <a:ext cx="5719819" cy="38728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8E7943B-7F7A-E421-6CB1-B7106632DA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01" y="5384353"/>
            <a:ext cx="4846645" cy="72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881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F6446-6343-4D42-4D42-C864F804D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470"/>
          </a:xfrm>
        </p:spPr>
        <p:txBody>
          <a:bodyPr>
            <a:normAutofit/>
          </a:bodyPr>
          <a:lstStyle/>
          <a:p>
            <a:r>
              <a:rPr lang="en-US" sz="3600" b="1" i="0" dirty="0">
                <a:solidFill>
                  <a:srgbClr val="4F4F4F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LSTM  vs Transformer</a:t>
            </a:r>
            <a:endParaRPr lang="en-CN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9D73F4-16A7-6CE8-0408-4E2AE2F32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25" y="4789970"/>
            <a:ext cx="9661872" cy="13909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CA6944-FE11-F535-C87B-F6B1FD3A5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24" y="1463468"/>
            <a:ext cx="8600947" cy="316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387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844</Words>
  <Application>Microsoft Macintosh PowerPoint</Application>
  <PresentationFormat>Widescreen</PresentationFormat>
  <Paragraphs>78</Paragraphs>
  <Slides>20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-apple-system</vt:lpstr>
      <vt:lpstr>PingFang SC</vt:lpstr>
      <vt:lpstr>Arial</vt:lpstr>
      <vt:lpstr>Calibri</vt:lpstr>
      <vt:lpstr>Calibri Light</vt:lpstr>
      <vt:lpstr>Office Theme</vt:lpstr>
      <vt:lpstr>Transformer</vt:lpstr>
      <vt:lpstr>Transformer</vt:lpstr>
      <vt:lpstr>Transformer</vt:lpstr>
      <vt:lpstr>Transformer – Input Embedding</vt:lpstr>
      <vt:lpstr>Transformer –  why Positional Encoding</vt:lpstr>
      <vt:lpstr>Transformer – Positional Encoding</vt:lpstr>
      <vt:lpstr>Transformer – Self Attention</vt:lpstr>
      <vt:lpstr>Transformer – Mult-Head Attention</vt:lpstr>
      <vt:lpstr>Transformer – Feed Forward</vt:lpstr>
      <vt:lpstr>Transformer – Add &amp; Norm Layer</vt:lpstr>
      <vt:lpstr>Transformer – Masked attention</vt:lpstr>
      <vt:lpstr>Multiple Encoder and Decoder</vt:lpstr>
      <vt:lpstr>Why Masked attention in LLM training</vt:lpstr>
      <vt:lpstr>Llm inference- two stages (prefill and decode)</vt:lpstr>
      <vt:lpstr>Why KV cache</vt:lpstr>
      <vt:lpstr>Kv cache</vt:lpstr>
      <vt:lpstr>Kv cache</vt:lpstr>
      <vt:lpstr>每个 token 的 KV Cache 占用多大？</vt:lpstr>
      <vt:lpstr>每个 token 的 KV Cache 占用多大？</vt:lpstr>
      <vt:lpstr>LSTM  vs Transformer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Transformer</dc:title>
  <dc:creator>刘 浩</dc:creator>
  <cp:lastModifiedBy>刘 浩</cp:lastModifiedBy>
  <cp:revision>42</cp:revision>
  <dcterms:created xsi:type="dcterms:W3CDTF">2025-05-18T03:28:22Z</dcterms:created>
  <dcterms:modified xsi:type="dcterms:W3CDTF">2025-05-18T10:36:26Z</dcterms:modified>
</cp:coreProperties>
</file>